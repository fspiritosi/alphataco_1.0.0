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51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580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047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4371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734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986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237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26687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374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541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989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38D61-E291-44DE-BA18-AFB71C8E07A3}" type="datetimeFigureOut">
              <a:rPr lang="es-AR" smtClean="0"/>
              <a:t>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48FB1-68B3-4181-84EE-8F1A7348FC6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895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289222" y="452025"/>
            <a:ext cx="11409409" cy="370456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smtClean="0">
                <a:solidFill>
                  <a:schemeClr val="tx1"/>
                </a:solidFill>
              </a:rPr>
              <a:t>Gerencia general / Comercial / Operativa / Financiera / Compras y abastecimiento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314381" y="167803"/>
            <a:ext cx="5595913" cy="2049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Proceso principal / Camino critico / Proyecto GH-Gestión.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06/10/25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  <a:endParaRPr lang="es-AR" sz="12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2" descr="MULTIPLÁ MARCA_VERTICAL COLOR PARA FONDOS CLAR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7707" y="-233868"/>
            <a:ext cx="2057507" cy="89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ángulo redondeado 7"/>
          <p:cNvSpPr/>
          <p:nvPr/>
        </p:nvSpPr>
        <p:spPr>
          <a:xfrm>
            <a:off x="2471529" y="4815406"/>
            <a:ext cx="1424610" cy="11348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“Solicitud de mantenimiento” comunica roturas activas.</a:t>
            </a:r>
          </a:p>
        </p:txBody>
      </p:sp>
      <p:sp>
        <p:nvSpPr>
          <p:cNvPr id="9" name="Rectángulo redondeado 8"/>
          <p:cNvSpPr/>
          <p:nvPr/>
        </p:nvSpPr>
        <p:spPr>
          <a:xfrm>
            <a:off x="72889" y="2676939"/>
            <a:ext cx="947530" cy="1444487"/>
          </a:xfrm>
          <a:prstGeom prst="roundRect">
            <a:avLst>
              <a:gd name="adj" fmla="val 48601"/>
            </a:avLst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5234609" y="2458276"/>
            <a:ext cx="1113183" cy="9409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list</a:t>
            </a:r>
            <a:r>
              <a:rPr lang="es-AR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posee ítems negativos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922644" y="3893691"/>
            <a:ext cx="12059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100" b="1" dirty="0" smtClean="0">
                <a:solidFill>
                  <a:srgbClr val="1D4355"/>
                </a:solidFill>
              </a:rPr>
              <a:t>EL SISTEMA LO DIRIJE </a:t>
            </a:r>
            <a:endParaRPr lang="es-AR" sz="1100" dirty="0">
              <a:effectLst/>
            </a:endParaRPr>
          </a:p>
        </p:txBody>
      </p:sp>
      <p:pic>
        <p:nvPicPr>
          <p:cNvPr id="13" name="Imagen 12" descr="&lt;strong&gt;QR&lt;/strong&gt; Code PNG Photo | PNG All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7" y="2872409"/>
            <a:ext cx="1017104" cy="1017104"/>
          </a:xfrm>
          <a:prstGeom prst="rect">
            <a:avLst/>
          </a:prstGeom>
        </p:spPr>
      </p:pic>
      <p:sp>
        <p:nvSpPr>
          <p:cNvPr id="15" name="Rombo 14"/>
          <p:cNvSpPr/>
          <p:nvPr/>
        </p:nvSpPr>
        <p:spPr>
          <a:xfrm>
            <a:off x="1338471" y="2491409"/>
            <a:ext cx="1842052" cy="177579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 smtClean="0"/>
              <a:t>Ingresa al sistema GH-Control puede acceder a:</a:t>
            </a:r>
            <a:endParaRPr lang="es-AR" sz="1100" dirty="0"/>
          </a:p>
        </p:txBody>
      </p:sp>
      <p:sp>
        <p:nvSpPr>
          <p:cNvPr id="16" name="Rectángulo redondeado 15"/>
          <p:cNvSpPr/>
          <p:nvPr/>
        </p:nvSpPr>
        <p:spPr>
          <a:xfrm>
            <a:off x="5400260" y="914397"/>
            <a:ext cx="1027043" cy="9409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list</a:t>
            </a:r>
            <a:r>
              <a:rPr lang="es-AR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sin ítems negativos</a:t>
            </a:r>
          </a:p>
        </p:txBody>
      </p:sp>
      <p:sp>
        <p:nvSpPr>
          <p:cNvPr id="17" name="Elipse 16"/>
          <p:cNvSpPr/>
          <p:nvPr/>
        </p:nvSpPr>
        <p:spPr>
          <a:xfrm>
            <a:off x="6758608" y="1020418"/>
            <a:ext cx="1404731" cy="715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000" dirty="0" smtClean="0"/>
              <a:t>Listo, </a:t>
            </a:r>
            <a:r>
              <a:rPr lang="es-AR" sz="1000" dirty="0" err="1" smtClean="0"/>
              <a:t>info</a:t>
            </a:r>
            <a:r>
              <a:rPr lang="es-AR" sz="1000" dirty="0" smtClean="0"/>
              <a:t> disponible en sistema</a:t>
            </a:r>
            <a:endParaRPr lang="es-AR" sz="1000" dirty="0"/>
          </a:p>
        </p:txBody>
      </p:sp>
      <p:cxnSp>
        <p:nvCxnSpPr>
          <p:cNvPr id="19" name="Conector angular 18"/>
          <p:cNvCxnSpPr>
            <a:stCxn id="15" idx="0"/>
            <a:endCxn id="22" idx="1"/>
          </p:cNvCxnSpPr>
          <p:nvPr/>
        </p:nvCxnSpPr>
        <p:spPr>
          <a:xfrm rot="5400000" flipH="1" flipV="1">
            <a:off x="2191580" y="2052432"/>
            <a:ext cx="506895" cy="3710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r 20"/>
          <p:cNvCxnSpPr>
            <a:stCxn id="15" idx="2"/>
            <a:endCxn id="8" idx="1"/>
          </p:cNvCxnSpPr>
          <p:nvPr/>
        </p:nvCxnSpPr>
        <p:spPr>
          <a:xfrm rot="16200000" flipH="1">
            <a:off x="1807705" y="4718992"/>
            <a:ext cx="1115616" cy="2120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mbo 21"/>
          <p:cNvSpPr/>
          <p:nvPr/>
        </p:nvSpPr>
        <p:spPr>
          <a:xfrm>
            <a:off x="2630558" y="901149"/>
            <a:ext cx="2312504" cy="216673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s-AR" sz="11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</a:t>
            </a:r>
            <a:r>
              <a:rPr lang="es-AR" sz="11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sz="11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list</a:t>
            </a:r>
            <a:r>
              <a:rPr lang="es-AR" sz="11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” procedimientos internos, de clientes, auditorias </a:t>
            </a:r>
            <a:r>
              <a:rPr lang="es-AR" sz="11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SySO</a:t>
            </a:r>
            <a:r>
              <a:rPr lang="es-AR" sz="11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auditorias operativas </a:t>
            </a:r>
          </a:p>
        </p:txBody>
      </p:sp>
      <p:cxnSp>
        <p:nvCxnSpPr>
          <p:cNvPr id="25" name="Conector recto de flecha 24"/>
          <p:cNvCxnSpPr>
            <a:stCxn id="16" idx="3"/>
            <a:endCxn id="17" idx="2"/>
          </p:cNvCxnSpPr>
          <p:nvPr/>
        </p:nvCxnSpPr>
        <p:spPr>
          <a:xfrm flipV="1">
            <a:off x="6427303" y="1378227"/>
            <a:ext cx="331305" cy="6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r 27"/>
          <p:cNvCxnSpPr>
            <a:stCxn id="22" idx="3"/>
            <a:endCxn id="16" idx="1"/>
          </p:cNvCxnSpPr>
          <p:nvPr/>
        </p:nvCxnSpPr>
        <p:spPr>
          <a:xfrm flipV="1">
            <a:off x="4943062" y="1384850"/>
            <a:ext cx="457198" cy="5996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r 32"/>
          <p:cNvCxnSpPr>
            <a:stCxn id="22" idx="3"/>
            <a:endCxn id="11" idx="1"/>
          </p:cNvCxnSpPr>
          <p:nvPr/>
        </p:nvCxnSpPr>
        <p:spPr>
          <a:xfrm>
            <a:off x="4943062" y="1984514"/>
            <a:ext cx="291547" cy="944215"/>
          </a:xfrm>
          <a:prstGeom prst="bentConnector3">
            <a:avLst>
              <a:gd name="adj1" fmla="val -45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/>
          <p:cNvCxnSpPr>
            <a:stCxn id="11" idx="2"/>
            <a:endCxn id="8" idx="0"/>
          </p:cNvCxnSpPr>
          <p:nvPr/>
        </p:nvCxnSpPr>
        <p:spPr>
          <a:xfrm rot="5400000">
            <a:off x="3779406" y="2803610"/>
            <a:ext cx="1416225" cy="26073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/>
          <p:cNvSpPr/>
          <p:nvPr/>
        </p:nvSpPr>
        <p:spPr>
          <a:xfrm>
            <a:off x="5400261" y="4218368"/>
            <a:ext cx="483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SI</a:t>
            </a:r>
            <a:endParaRPr lang="es-AR" dirty="0">
              <a:effectLst/>
            </a:endParaRPr>
          </a:p>
        </p:txBody>
      </p:sp>
      <p:cxnSp>
        <p:nvCxnSpPr>
          <p:cNvPr id="43" name="Conector recto de flecha 42"/>
          <p:cNvCxnSpPr>
            <a:stCxn id="13" idx="3"/>
            <a:endCxn id="15" idx="1"/>
          </p:cNvCxnSpPr>
          <p:nvPr/>
        </p:nvCxnSpPr>
        <p:spPr>
          <a:xfrm flipV="1">
            <a:off x="1056861" y="3379305"/>
            <a:ext cx="281610" cy="1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mbo 49"/>
          <p:cNvSpPr/>
          <p:nvPr/>
        </p:nvSpPr>
        <p:spPr>
          <a:xfrm>
            <a:off x="4512366" y="4684645"/>
            <a:ext cx="1610138" cy="13981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 smtClean="0"/>
              <a:t>Supervisor revisa la S.M. puede:</a:t>
            </a:r>
            <a:endParaRPr lang="es-AR" sz="1100" dirty="0"/>
          </a:p>
        </p:txBody>
      </p:sp>
      <p:cxnSp>
        <p:nvCxnSpPr>
          <p:cNvPr id="52" name="Conector recto de flecha 51"/>
          <p:cNvCxnSpPr>
            <a:stCxn id="8" idx="3"/>
            <a:endCxn id="50" idx="1"/>
          </p:cNvCxnSpPr>
          <p:nvPr/>
        </p:nvCxnSpPr>
        <p:spPr>
          <a:xfrm>
            <a:off x="3896139" y="5382816"/>
            <a:ext cx="616227" cy="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redondeado 53"/>
          <p:cNvSpPr/>
          <p:nvPr/>
        </p:nvSpPr>
        <p:spPr>
          <a:xfrm>
            <a:off x="5996609" y="4214190"/>
            <a:ext cx="1113183" cy="58309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Valida uno o mas ítems. </a:t>
            </a:r>
          </a:p>
        </p:txBody>
      </p:sp>
      <p:cxnSp>
        <p:nvCxnSpPr>
          <p:cNvPr id="56" name="Conector angular 55"/>
          <p:cNvCxnSpPr>
            <a:stCxn id="50" idx="0"/>
            <a:endCxn id="54" idx="1"/>
          </p:cNvCxnSpPr>
          <p:nvPr/>
        </p:nvCxnSpPr>
        <p:spPr>
          <a:xfrm rot="5400000" flipH="1" flipV="1">
            <a:off x="5567569" y="4255605"/>
            <a:ext cx="178906" cy="6791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ángulo redondeado 56"/>
          <p:cNvSpPr/>
          <p:nvPr/>
        </p:nvSpPr>
        <p:spPr>
          <a:xfrm>
            <a:off x="5989981" y="5963477"/>
            <a:ext cx="954157" cy="6559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Valida ningún ítems. </a:t>
            </a:r>
          </a:p>
        </p:txBody>
      </p:sp>
      <p:cxnSp>
        <p:nvCxnSpPr>
          <p:cNvPr id="59" name="Conector angular 58"/>
          <p:cNvCxnSpPr>
            <a:stCxn id="50" idx="2"/>
            <a:endCxn id="57" idx="1"/>
          </p:cNvCxnSpPr>
          <p:nvPr/>
        </p:nvCxnSpPr>
        <p:spPr>
          <a:xfrm rot="16200000" flipH="1">
            <a:off x="5549349" y="5850835"/>
            <a:ext cx="208719" cy="6725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/>
          <p:cNvSpPr/>
          <p:nvPr/>
        </p:nvSpPr>
        <p:spPr>
          <a:xfrm>
            <a:off x="5294243" y="6312212"/>
            <a:ext cx="5499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NO</a:t>
            </a:r>
            <a:endParaRPr lang="es-AR" dirty="0">
              <a:effectLst/>
            </a:endParaRPr>
          </a:p>
        </p:txBody>
      </p:sp>
      <p:sp>
        <p:nvSpPr>
          <p:cNvPr id="61" name="Rectángulo 60"/>
          <p:cNvSpPr/>
          <p:nvPr/>
        </p:nvSpPr>
        <p:spPr>
          <a:xfrm>
            <a:off x="4532244" y="2329933"/>
            <a:ext cx="483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SI</a:t>
            </a:r>
            <a:endParaRPr lang="es-AR" dirty="0">
              <a:effectLst/>
            </a:endParaRPr>
          </a:p>
        </p:txBody>
      </p:sp>
      <p:sp>
        <p:nvSpPr>
          <p:cNvPr id="66" name="Elipse 65"/>
          <p:cNvSpPr/>
          <p:nvPr/>
        </p:nvSpPr>
        <p:spPr>
          <a:xfrm>
            <a:off x="7732643" y="5943602"/>
            <a:ext cx="1404731" cy="715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000" dirty="0" smtClean="0"/>
              <a:t>Listo justifica cada ítems rechazado.</a:t>
            </a:r>
            <a:endParaRPr lang="es-AR" sz="1000" dirty="0"/>
          </a:p>
        </p:txBody>
      </p:sp>
      <p:cxnSp>
        <p:nvCxnSpPr>
          <p:cNvPr id="68" name="Conector recto de flecha 67"/>
          <p:cNvCxnSpPr>
            <a:stCxn id="57" idx="3"/>
            <a:endCxn id="66" idx="2"/>
          </p:cNvCxnSpPr>
          <p:nvPr/>
        </p:nvCxnSpPr>
        <p:spPr>
          <a:xfrm>
            <a:off x="6944138" y="6291468"/>
            <a:ext cx="788505" cy="9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ángulo 68"/>
          <p:cNvSpPr/>
          <p:nvPr/>
        </p:nvSpPr>
        <p:spPr>
          <a:xfrm>
            <a:off x="3743741" y="5344804"/>
            <a:ext cx="101379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100" b="1" dirty="0" smtClean="0">
                <a:solidFill>
                  <a:srgbClr val="1D4355"/>
                </a:solidFill>
              </a:rPr>
              <a:t> notifica </a:t>
            </a:r>
          </a:p>
          <a:p>
            <a:pPr algn="ctr"/>
            <a:r>
              <a:rPr lang="es-AR" sz="1100" b="1" dirty="0" smtClean="0">
                <a:solidFill>
                  <a:srgbClr val="1D4355"/>
                </a:solidFill>
              </a:rPr>
              <a:t>SM a visar</a:t>
            </a:r>
            <a:endParaRPr lang="es-AR" sz="1100" dirty="0">
              <a:effectLst/>
            </a:endParaRPr>
          </a:p>
        </p:txBody>
      </p:sp>
      <p:sp>
        <p:nvSpPr>
          <p:cNvPr id="74" name="Rectángulo redondeado 73"/>
          <p:cNvSpPr/>
          <p:nvPr/>
        </p:nvSpPr>
        <p:spPr>
          <a:xfrm>
            <a:off x="7275442" y="4611756"/>
            <a:ext cx="1404732" cy="108667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sistema transforma la S.M. en “Pedido de Mantenimiento”</a:t>
            </a:r>
          </a:p>
        </p:txBody>
      </p:sp>
      <p:sp>
        <p:nvSpPr>
          <p:cNvPr id="84" name="Rombo 83"/>
          <p:cNvSpPr/>
          <p:nvPr/>
        </p:nvSpPr>
        <p:spPr>
          <a:xfrm>
            <a:off x="6917635" y="2252871"/>
            <a:ext cx="2146852" cy="147099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 smtClean="0"/>
              <a:t>Jefe de mantenimiento puede:</a:t>
            </a:r>
            <a:endParaRPr lang="es-AR" sz="1100" dirty="0"/>
          </a:p>
        </p:txBody>
      </p:sp>
      <p:cxnSp>
        <p:nvCxnSpPr>
          <p:cNvPr id="88" name="Conector angular 87"/>
          <p:cNvCxnSpPr>
            <a:stCxn id="54" idx="2"/>
            <a:endCxn id="74" idx="1"/>
          </p:cNvCxnSpPr>
          <p:nvPr/>
        </p:nvCxnSpPr>
        <p:spPr>
          <a:xfrm rot="16200000" flipH="1">
            <a:off x="6735417" y="4615071"/>
            <a:ext cx="357808" cy="7222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/>
          <p:cNvCxnSpPr>
            <a:stCxn id="74" idx="0"/>
            <a:endCxn id="84" idx="2"/>
          </p:cNvCxnSpPr>
          <p:nvPr/>
        </p:nvCxnSpPr>
        <p:spPr>
          <a:xfrm flipV="1">
            <a:off x="7977808" y="3723863"/>
            <a:ext cx="13253" cy="88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ángulo 93"/>
          <p:cNvSpPr/>
          <p:nvPr/>
        </p:nvSpPr>
        <p:spPr>
          <a:xfrm>
            <a:off x="7858541" y="3840682"/>
            <a:ext cx="96740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100" b="1" dirty="0" smtClean="0">
                <a:solidFill>
                  <a:srgbClr val="1D4355"/>
                </a:solidFill>
              </a:rPr>
              <a:t> notifica </a:t>
            </a:r>
          </a:p>
          <a:p>
            <a:pPr algn="ctr"/>
            <a:r>
              <a:rPr lang="es-AR" sz="1100" b="1" dirty="0" smtClean="0">
                <a:solidFill>
                  <a:srgbClr val="1D4355"/>
                </a:solidFill>
              </a:rPr>
              <a:t>PM  pendiente</a:t>
            </a:r>
            <a:endParaRPr lang="es-AR" sz="1100" dirty="0">
              <a:effectLst/>
            </a:endParaRPr>
          </a:p>
        </p:txBody>
      </p:sp>
      <p:sp>
        <p:nvSpPr>
          <p:cNvPr id="98" name="Rectángulo 97"/>
          <p:cNvSpPr/>
          <p:nvPr/>
        </p:nvSpPr>
        <p:spPr>
          <a:xfrm>
            <a:off x="6844750" y="6259204"/>
            <a:ext cx="96740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100" b="1" dirty="0" smtClean="0">
                <a:solidFill>
                  <a:srgbClr val="1D4355"/>
                </a:solidFill>
              </a:rPr>
              <a:t>mandatorio</a:t>
            </a:r>
            <a:endParaRPr lang="es-AR" sz="1100" dirty="0">
              <a:effectLst/>
            </a:endParaRPr>
          </a:p>
        </p:txBody>
      </p:sp>
      <p:sp>
        <p:nvSpPr>
          <p:cNvPr id="101" name="Rectángulo redondeado 100"/>
          <p:cNvSpPr/>
          <p:nvPr/>
        </p:nvSpPr>
        <p:spPr>
          <a:xfrm>
            <a:off x="8580783" y="1550503"/>
            <a:ext cx="934278" cy="6891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Deriva a un taller externo</a:t>
            </a:r>
          </a:p>
        </p:txBody>
      </p:sp>
      <p:sp>
        <p:nvSpPr>
          <p:cNvPr id="114" name="Rectángulo 113"/>
          <p:cNvSpPr/>
          <p:nvPr/>
        </p:nvSpPr>
        <p:spPr>
          <a:xfrm>
            <a:off x="-66260" y="1422161"/>
            <a:ext cx="12125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Cada dominio posee un QR, único </a:t>
            </a:r>
            <a:endParaRPr lang="es-AR" dirty="0">
              <a:effectLst/>
            </a:endParaRPr>
          </a:p>
        </p:txBody>
      </p:sp>
      <p:sp>
        <p:nvSpPr>
          <p:cNvPr id="115" name="Rectángulo redondeado 114"/>
          <p:cNvSpPr/>
          <p:nvPr/>
        </p:nvSpPr>
        <p:spPr>
          <a:xfrm>
            <a:off x="10177671" y="3876259"/>
            <a:ext cx="1113183" cy="11728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Planificar fecha de recepción de unidad en taller interno</a:t>
            </a:r>
          </a:p>
        </p:txBody>
      </p:sp>
      <p:sp>
        <p:nvSpPr>
          <p:cNvPr id="116" name="Rectángulo redondeado 115"/>
          <p:cNvSpPr/>
          <p:nvPr/>
        </p:nvSpPr>
        <p:spPr>
          <a:xfrm>
            <a:off x="9978886" y="1477614"/>
            <a:ext cx="1245705" cy="8282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Gestiona, disponibilidad del proveedor.</a:t>
            </a:r>
          </a:p>
        </p:txBody>
      </p:sp>
      <p:cxnSp>
        <p:nvCxnSpPr>
          <p:cNvPr id="118" name="Conector angular 117"/>
          <p:cNvCxnSpPr>
            <a:stCxn id="84" idx="0"/>
            <a:endCxn id="101" idx="1"/>
          </p:cNvCxnSpPr>
          <p:nvPr/>
        </p:nvCxnSpPr>
        <p:spPr>
          <a:xfrm rot="5400000" flipH="1" flipV="1">
            <a:off x="8107017" y="1779105"/>
            <a:ext cx="357810" cy="5897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de flecha 123"/>
          <p:cNvCxnSpPr>
            <a:stCxn id="101" idx="3"/>
            <a:endCxn id="116" idx="1"/>
          </p:cNvCxnSpPr>
          <p:nvPr/>
        </p:nvCxnSpPr>
        <p:spPr>
          <a:xfrm flipV="1">
            <a:off x="9515061" y="1891746"/>
            <a:ext cx="463825" cy="3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angular 136"/>
          <p:cNvCxnSpPr>
            <a:stCxn id="84" idx="3"/>
            <a:endCxn id="115" idx="1"/>
          </p:cNvCxnSpPr>
          <p:nvPr/>
        </p:nvCxnSpPr>
        <p:spPr>
          <a:xfrm>
            <a:off x="9064487" y="2988367"/>
            <a:ext cx="1113184" cy="14743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ángulo redondeado 139"/>
          <p:cNvSpPr/>
          <p:nvPr/>
        </p:nvSpPr>
        <p:spPr>
          <a:xfrm>
            <a:off x="10513274" y="106016"/>
            <a:ext cx="1188395" cy="264439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smtClean="0">
                <a:solidFill>
                  <a:schemeClr val="tx1"/>
                </a:solidFill>
              </a:rPr>
              <a:t>Hoja 1 </a:t>
            </a:r>
            <a:endParaRPr lang="es-AR" b="1" dirty="0">
              <a:solidFill>
                <a:schemeClr val="tx1"/>
              </a:solidFill>
            </a:endParaRPr>
          </a:p>
        </p:txBody>
      </p:sp>
      <p:cxnSp>
        <p:nvCxnSpPr>
          <p:cNvPr id="143" name="Conector recto de flecha 142"/>
          <p:cNvCxnSpPr/>
          <p:nvPr/>
        </p:nvCxnSpPr>
        <p:spPr>
          <a:xfrm>
            <a:off x="11244470" y="1888436"/>
            <a:ext cx="762000" cy="66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/>
          <p:cNvCxnSpPr/>
          <p:nvPr/>
        </p:nvCxnSpPr>
        <p:spPr>
          <a:xfrm flipV="1">
            <a:off x="11317357" y="4452730"/>
            <a:ext cx="755373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ángulo 149"/>
          <p:cNvSpPr/>
          <p:nvPr/>
        </p:nvSpPr>
        <p:spPr>
          <a:xfrm>
            <a:off x="4664765" y="1349273"/>
            <a:ext cx="5499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NO</a:t>
            </a:r>
            <a:endParaRPr lang="es-A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94592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289222" y="452025"/>
            <a:ext cx="11409409" cy="370456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smtClean="0">
                <a:solidFill>
                  <a:schemeClr val="tx1"/>
                </a:solidFill>
              </a:rPr>
              <a:t>Gerencia general / Comercial / Operativa / Financiera / Compras y abastecimiento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314381" y="167803"/>
            <a:ext cx="5595913" cy="2049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Proceso principal / Camino critico / Proyecto GH-Gestión.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06/10/25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  <a:endParaRPr lang="es-AR" sz="12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2" descr="MULTIPLÁ MARCA_VERTICAL COLOR PARA FONDOS CLAR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7707" y="-233868"/>
            <a:ext cx="2057507" cy="89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redondeado 6"/>
          <p:cNvSpPr/>
          <p:nvPr/>
        </p:nvSpPr>
        <p:spPr>
          <a:xfrm>
            <a:off x="10526526" y="92764"/>
            <a:ext cx="1188395" cy="277691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smtClean="0">
                <a:solidFill>
                  <a:schemeClr val="tx1"/>
                </a:solidFill>
              </a:rPr>
              <a:t>Hoja 2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8" name="Rectángulo redondeado 7"/>
          <p:cNvSpPr/>
          <p:nvPr/>
        </p:nvSpPr>
        <p:spPr>
          <a:xfrm>
            <a:off x="463827" y="4671388"/>
            <a:ext cx="1113183" cy="11728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Planificar fecha de recepción de unidad en taller interno</a:t>
            </a:r>
          </a:p>
        </p:txBody>
      </p:sp>
      <p:sp>
        <p:nvSpPr>
          <p:cNvPr id="9" name="Rectángulo redondeado 8"/>
          <p:cNvSpPr/>
          <p:nvPr/>
        </p:nvSpPr>
        <p:spPr>
          <a:xfrm>
            <a:off x="530086" y="1411354"/>
            <a:ext cx="1311966" cy="8282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Gestiona, disponibilidad del proveedor.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0" y="1775791"/>
            <a:ext cx="530086" cy="99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V="1">
            <a:off x="0" y="5251173"/>
            <a:ext cx="463825" cy="33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redondeado 12"/>
          <p:cNvSpPr/>
          <p:nvPr/>
        </p:nvSpPr>
        <p:spPr>
          <a:xfrm>
            <a:off x="2286001" y="1311961"/>
            <a:ext cx="1358346" cy="9939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Planificar junto a operaciones disponibilidad y carreteo</a:t>
            </a:r>
          </a:p>
        </p:txBody>
      </p:sp>
      <p:cxnSp>
        <p:nvCxnSpPr>
          <p:cNvPr id="14" name="Conector recto de flecha 13"/>
          <p:cNvCxnSpPr/>
          <p:nvPr/>
        </p:nvCxnSpPr>
        <p:spPr>
          <a:xfrm flipV="1">
            <a:off x="1835427" y="1818860"/>
            <a:ext cx="463825" cy="3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mbo 14"/>
          <p:cNvSpPr/>
          <p:nvPr/>
        </p:nvSpPr>
        <p:spPr>
          <a:xfrm>
            <a:off x="3843130" y="1073429"/>
            <a:ext cx="1828800" cy="147099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 smtClean="0"/>
              <a:t>Jefe de mantenimiento realiza seguimiento y puede:</a:t>
            </a:r>
            <a:endParaRPr lang="es-AR" sz="1100" dirty="0"/>
          </a:p>
        </p:txBody>
      </p:sp>
      <p:cxnSp>
        <p:nvCxnSpPr>
          <p:cNvPr id="16" name="Conector recto de flecha 15"/>
          <p:cNvCxnSpPr>
            <a:stCxn id="13" idx="3"/>
            <a:endCxn id="15" idx="1"/>
          </p:cNvCxnSpPr>
          <p:nvPr/>
        </p:nvCxnSpPr>
        <p:spPr>
          <a:xfrm>
            <a:off x="3644347" y="1808919"/>
            <a:ext cx="198783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10522225" y="954157"/>
            <a:ext cx="1404731" cy="715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000" dirty="0" smtClean="0"/>
              <a:t>Listo, certifica trabajo conforme.</a:t>
            </a:r>
            <a:endParaRPr lang="es-AR" sz="1000" dirty="0"/>
          </a:p>
        </p:txBody>
      </p:sp>
      <p:sp>
        <p:nvSpPr>
          <p:cNvPr id="20" name="Rectángulo 19"/>
          <p:cNvSpPr/>
          <p:nvPr/>
        </p:nvSpPr>
        <p:spPr>
          <a:xfrm>
            <a:off x="5406887" y="1190246"/>
            <a:ext cx="483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SI</a:t>
            </a:r>
            <a:endParaRPr lang="es-AR" dirty="0">
              <a:effectLst/>
            </a:endParaRPr>
          </a:p>
        </p:txBody>
      </p:sp>
      <p:sp>
        <p:nvSpPr>
          <p:cNvPr id="21" name="Rectángulo redondeado 20"/>
          <p:cNvSpPr/>
          <p:nvPr/>
        </p:nvSpPr>
        <p:spPr>
          <a:xfrm>
            <a:off x="7248939" y="1901684"/>
            <a:ext cx="2146851" cy="8282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 detectara junto al proveedor ítems no conformes o fallas presentes, realiza reclamo.</a:t>
            </a:r>
          </a:p>
        </p:txBody>
      </p:sp>
      <p:cxnSp>
        <p:nvCxnSpPr>
          <p:cNvPr id="23" name="Conector angular 22"/>
          <p:cNvCxnSpPr>
            <a:stCxn id="15" idx="3"/>
            <a:endCxn id="21" idx="1"/>
          </p:cNvCxnSpPr>
          <p:nvPr/>
        </p:nvCxnSpPr>
        <p:spPr>
          <a:xfrm>
            <a:off x="5671930" y="1808925"/>
            <a:ext cx="1577009" cy="5068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/>
          <p:cNvSpPr/>
          <p:nvPr/>
        </p:nvSpPr>
        <p:spPr>
          <a:xfrm>
            <a:off x="6645966" y="2018506"/>
            <a:ext cx="5499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NO</a:t>
            </a:r>
            <a:endParaRPr lang="es-AR" dirty="0">
              <a:effectLst/>
            </a:endParaRPr>
          </a:p>
        </p:txBody>
      </p:sp>
      <p:sp>
        <p:nvSpPr>
          <p:cNvPr id="37" name="Rectángulo redondeado 36"/>
          <p:cNvSpPr/>
          <p:nvPr/>
        </p:nvSpPr>
        <p:spPr>
          <a:xfrm>
            <a:off x="2126972" y="3286538"/>
            <a:ext cx="1013794" cy="1643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autoriza a portería del ingreso y carga un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 ingreso en pendiente. </a:t>
            </a:r>
          </a:p>
        </p:txBody>
      </p:sp>
      <p:sp>
        <p:nvSpPr>
          <p:cNvPr id="41" name="Rectángulo redondeado 40"/>
          <p:cNvSpPr/>
          <p:nvPr/>
        </p:nvSpPr>
        <p:spPr>
          <a:xfrm>
            <a:off x="3750367" y="3445564"/>
            <a:ext cx="1616763" cy="13252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 ingresar, portería realiza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digital y autoriza ingreso. Queda en pendiente de contrastar en la salida del mismo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42" name="Rectángulo redondeado 41"/>
          <p:cNvSpPr/>
          <p:nvPr/>
        </p:nvSpPr>
        <p:spPr>
          <a:xfrm>
            <a:off x="5864085" y="2941984"/>
            <a:ext cx="1186072" cy="23456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en “mantenimiento”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notifica que la unidad esta en pendiente de asignación de sector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En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“operaciones”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unidad queda fuera de servicio.</a:t>
            </a:r>
            <a:endParaRPr lang="es-AR" sz="12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4" name="Conector angular 43"/>
          <p:cNvCxnSpPr>
            <a:stCxn id="8" idx="0"/>
            <a:endCxn id="37" idx="1"/>
          </p:cNvCxnSpPr>
          <p:nvPr/>
        </p:nvCxnSpPr>
        <p:spPr>
          <a:xfrm rot="5400000" flipH="1" flipV="1">
            <a:off x="1292088" y="3836505"/>
            <a:ext cx="563215" cy="11065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/>
          <p:cNvCxnSpPr>
            <a:stCxn id="37" idx="3"/>
            <a:endCxn id="41" idx="1"/>
          </p:cNvCxnSpPr>
          <p:nvPr/>
        </p:nvCxnSpPr>
        <p:spPr>
          <a:xfrm>
            <a:off x="3140766" y="4108173"/>
            <a:ext cx="6096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>
            <a:stCxn id="41" idx="3"/>
            <a:endCxn id="42" idx="1"/>
          </p:cNvCxnSpPr>
          <p:nvPr/>
        </p:nvCxnSpPr>
        <p:spPr>
          <a:xfrm>
            <a:off x="5367130" y="4108174"/>
            <a:ext cx="496955" cy="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ángulo redondeado 54"/>
          <p:cNvSpPr/>
          <p:nvPr/>
        </p:nvSpPr>
        <p:spPr>
          <a:xfrm>
            <a:off x="1855300" y="5506279"/>
            <a:ext cx="1431237" cy="10270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notifica a los referentes operativos para que planifiquen disponibilidad</a:t>
            </a:r>
          </a:p>
        </p:txBody>
      </p:sp>
      <p:sp>
        <p:nvSpPr>
          <p:cNvPr id="64" name="Rombo 63"/>
          <p:cNvSpPr/>
          <p:nvPr/>
        </p:nvSpPr>
        <p:spPr>
          <a:xfrm>
            <a:off x="3703981" y="5406887"/>
            <a:ext cx="1835426" cy="12258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 smtClean="0"/>
              <a:t>Operaciones puede:</a:t>
            </a:r>
            <a:endParaRPr lang="es-AR" sz="1100" dirty="0"/>
          </a:p>
        </p:txBody>
      </p:sp>
      <p:cxnSp>
        <p:nvCxnSpPr>
          <p:cNvPr id="66" name="Conector recto de flecha 65"/>
          <p:cNvCxnSpPr>
            <a:stCxn id="55" idx="3"/>
            <a:endCxn id="64" idx="1"/>
          </p:cNvCxnSpPr>
          <p:nvPr/>
        </p:nvCxnSpPr>
        <p:spPr>
          <a:xfrm>
            <a:off x="3286537" y="6019801"/>
            <a:ext cx="4174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/>
          <p:cNvCxnSpPr>
            <a:stCxn id="64" idx="0"/>
          </p:cNvCxnSpPr>
          <p:nvPr/>
        </p:nvCxnSpPr>
        <p:spPr>
          <a:xfrm flipH="1" flipV="1">
            <a:off x="4605132" y="4757531"/>
            <a:ext cx="16562" cy="649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 79"/>
          <p:cNvSpPr/>
          <p:nvPr/>
        </p:nvSpPr>
        <p:spPr>
          <a:xfrm>
            <a:off x="357809" y="6556634"/>
            <a:ext cx="433346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100" b="1" dirty="0">
                <a:solidFill>
                  <a:srgbClr val="1D4355"/>
                </a:solidFill>
              </a:rPr>
              <a:t>S</a:t>
            </a:r>
            <a:r>
              <a:rPr lang="es-AR" sz="1100" b="1" dirty="0" smtClean="0">
                <a:solidFill>
                  <a:srgbClr val="1D4355"/>
                </a:solidFill>
              </a:rPr>
              <a:t>in disponibilidad operativa</a:t>
            </a:r>
            <a:endParaRPr lang="es-AR" sz="1100" dirty="0">
              <a:effectLst/>
            </a:endParaRPr>
          </a:p>
        </p:txBody>
      </p:sp>
      <p:sp>
        <p:nvSpPr>
          <p:cNvPr id="81" name="Rectángulo 80"/>
          <p:cNvSpPr/>
          <p:nvPr/>
        </p:nvSpPr>
        <p:spPr>
          <a:xfrm>
            <a:off x="4220817" y="5000246"/>
            <a:ext cx="483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SI</a:t>
            </a:r>
            <a:endParaRPr lang="es-AR" dirty="0">
              <a:effectLst/>
            </a:endParaRPr>
          </a:p>
        </p:txBody>
      </p:sp>
      <p:cxnSp>
        <p:nvCxnSpPr>
          <p:cNvPr id="87" name="Conector angular 86"/>
          <p:cNvCxnSpPr/>
          <p:nvPr/>
        </p:nvCxnSpPr>
        <p:spPr>
          <a:xfrm rot="5400000" flipH="1">
            <a:off x="2440056" y="4451076"/>
            <a:ext cx="788506" cy="3601275"/>
          </a:xfrm>
          <a:prstGeom prst="bentConnector3">
            <a:avLst>
              <a:gd name="adj1" fmla="val -1722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ángulo redondeado 110"/>
          <p:cNvSpPr/>
          <p:nvPr/>
        </p:nvSpPr>
        <p:spPr>
          <a:xfrm>
            <a:off x="7388089" y="3525076"/>
            <a:ext cx="1113183" cy="11728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Jefe de taller asigna el o los sectores de internos.</a:t>
            </a:r>
          </a:p>
        </p:txBody>
      </p:sp>
      <p:sp>
        <p:nvSpPr>
          <p:cNvPr id="116" name="Rectángulo redondeado 115"/>
          <p:cNvSpPr/>
          <p:nvPr/>
        </p:nvSpPr>
        <p:spPr>
          <a:xfrm>
            <a:off x="9011480" y="3107634"/>
            <a:ext cx="1842052" cy="19944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genera automáticamente “Ordenes de Trabajo”  todas relacionadas al mismo “ PM” en cada sector con los ítems asignados. Deja las tareas como pendientes.  Asigna un referente</a:t>
            </a:r>
          </a:p>
        </p:txBody>
      </p:sp>
      <p:cxnSp>
        <p:nvCxnSpPr>
          <p:cNvPr id="119" name="Conector recto de flecha 118"/>
          <p:cNvCxnSpPr>
            <a:stCxn id="42" idx="3"/>
            <a:endCxn id="111" idx="1"/>
          </p:cNvCxnSpPr>
          <p:nvPr/>
        </p:nvCxnSpPr>
        <p:spPr>
          <a:xfrm flipV="1">
            <a:off x="7050157" y="4111486"/>
            <a:ext cx="337932" cy="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121"/>
          <p:cNvCxnSpPr>
            <a:stCxn id="111" idx="3"/>
            <a:endCxn id="116" idx="1"/>
          </p:cNvCxnSpPr>
          <p:nvPr/>
        </p:nvCxnSpPr>
        <p:spPr>
          <a:xfrm flipV="1">
            <a:off x="8501272" y="4104861"/>
            <a:ext cx="510208" cy="6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de flecha 136"/>
          <p:cNvCxnSpPr/>
          <p:nvPr/>
        </p:nvCxnSpPr>
        <p:spPr>
          <a:xfrm>
            <a:off x="10840281" y="4091608"/>
            <a:ext cx="1139684" cy="165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angular 138"/>
          <p:cNvCxnSpPr>
            <a:stCxn id="8" idx="3"/>
            <a:endCxn id="55" idx="0"/>
          </p:cNvCxnSpPr>
          <p:nvPr/>
        </p:nvCxnSpPr>
        <p:spPr>
          <a:xfrm>
            <a:off x="1577010" y="5257798"/>
            <a:ext cx="993909" cy="2484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angular 141"/>
          <p:cNvCxnSpPr>
            <a:stCxn id="21" idx="2"/>
            <a:endCxn id="15" idx="2"/>
          </p:cNvCxnSpPr>
          <p:nvPr/>
        </p:nvCxnSpPr>
        <p:spPr>
          <a:xfrm rot="5400000" flipH="1">
            <a:off x="6447184" y="854768"/>
            <a:ext cx="185528" cy="3564835"/>
          </a:xfrm>
          <a:prstGeom prst="bentConnector3">
            <a:avLst>
              <a:gd name="adj1" fmla="val -3035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/>
          <p:cNvSpPr/>
          <p:nvPr/>
        </p:nvSpPr>
        <p:spPr>
          <a:xfrm>
            <a:off x="4731026" y="6488668"/>
            <a:ext cx="583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NO</a:t>
            </a:r>
            <a:endParaRPr lang="es-AR" dirty="0">
              <a:effectLst/>
            </a:endParaRPr>
          </a:p>
        </p:txBody>
      </p:sp>
      <p:sp>
        <p:nvSpPr>
          <p:cNvPr id="43" name="Rectángulo redondeado 42"/>
          <p:cNvSpPr/>
          <p:nvPr/>
        </p:nvSpPr>
        <p:spPr>
          <a:xfrm>
            <a:off x="6109251" y="5565913"/>
            <a:ext cx="1683028" cy="921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notifica a sala de control. La unidad queda fuera de operaciones</a:t>
            </a:r>
          </a:p>
        </p:txBody>
      </p:sp>
      <p:cxnSp>
        <p:nvCxnSpPr>
          <p:cNvPr id="3" name="Conector recto de flecha 2"/>
          <p:cNvCxnSpPr>
            <a:stCxn id="64" idx="3"/>
            <a:endCxn id="43" idx="1"/>
          </p:cNvCxnSpPr>
          <p:nvPr/>
        </p:nvCxnSpPr>
        <p:spPr>
          <a:xfrm>
            <a:off x="5539407" y="6019801"/>
            <a:ext cx="569844" cy="6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/>
          <p:cNvSpPr/>
          <p:nvPr/>
        </p:nvSpPr>
        <p:spPr>
          <a:xfrm>
            <a:off x="5499652" y="5709237"/>
            <a:ext cx="483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SI</a:t>
            </a:r>
            <a:endParaRPr lang="es-AR" dirty="0">
              <a:effectLst/>
            </a:endParaRPr>
          </a:p>
        </p:txBody>
      </p:sp>
      <p:sp>
        <p:nvSpPr>
          <p:cNvPr id="52" name="Rectángulo redondeado 51"/>
          <p:cNvSpPr/>
          <p:nvPr/>
        </p:nvSpPr>
        <p:spPr>
          <a:xfrm>
            <a:off x="7739270" y="921026"/>
            <a:ext cx="2504659" cy="7885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pone en operatividad  y notifica que la unidad esta operativa en proveedor. Sala / Operaciones</a:t>
            </a:r>
          </a:p>
        </p:txBody>
      </p:sp>
      <p:cxnSp>
        <p:nvCxnSpPr>
          <p:cNvPr id="31" name="Conector recto de flecha 30"/>
          <p:cNvCxnSpPr>
            <a:stCxn id="52" idx="3"/>
            <a:endCxn id="17" idx="2"/>
          </p:cNvCxnSpPr>
          <p:nvPr/>
        </p:nvCxnSpPr>
        <p:spPr>
          <a:xfrm flipV="1">
            <a:off x="10243929" y="1311966"/>
            <a:ext cx="278296" cy="3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ángulo redondeado 71"/>
          <p:cNvSpPr/>
          <p:nvPr/>
        </p:nvSpPr>
        <p:spPr>
          <a:xfrm>
            <a:off x="5943600" y="1007162"/>
            <a:ext cx="1464366" cy="6228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 conformidad y cierra la OT Externa. Y PM</a:t>
            </a:r>
          </a:p>
        </p:txBody>
      </p:sp>
      <p:cxnSp>
        <p:nvCxnSpPr>
          <p:cNvPr id="82" name="Conector angular 81"/>
          <p:cNvCxnSpPr>
            <a:stCxn id="15" idx="3"/>
            <a:endCxn id="72" idx="1"/>
          </p:cNvCxnSpPr>
          <p:nvPr/>
        </p:nvCxnSpPr>
        <p:spPr>
          <a:xfrm flipV="1">
            <a:off x="5671930" y="1318590"/>
            <a:ext cx="271670" cy="4903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/>
          <p:cNvCxnSpPr>
            <a:stCxn id="72" idx="3"/>
            <a:endCxn id="52" idx="1"/>
          </p:cNvCxnSpPr>
          <p:nvPr/>
        </p:nvCxnSpPr>
        <p:spPr>
          <a:xfrm flipV="1">
            <a:off x="7407966" y="1315278"/>
            <a:ext cx="331304" cy="3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ángulo 93"/>
          <p:cNvSpPr/>
          <p:nvPr/>
        </p:nvSpPr>
        <p:spPr>
          <a:xfrm>
            <a:off x="5102087" y="2534599"/>
            <a:ext cx="208721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100" b="1" dirty="0" smtClean="0">
                <a:solidFill>
                  <a:srgbClr val="1D4355"/>
                </a:solidFill>
              </a:rPr>
              <a:t>Gestiona reclamo y retorna.</a:t>
            </a:r>
            <a:endParaRPr lang="es-AR" sz="1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452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mbo 3"/>
          <p:cNvSpPr/>
          <p:nvPr/>
        </p:nvSpPr>
        <p:spPr>
          <a:xfrm>
            <a:off x="251790" y="2590802"/>
            <a:ext cx="2206487" cy="214022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Operario de mantenimiento gestiona repuestos, reparaciones, revisiones mas detalladas y </a:t>
            </a:r>
            <a:r>
              <a:rPr lang="es-AR" sz="11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puede:</a:t>
            </a:r>
            <a:endParaRPr lang="es-AR" sz="11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289222" y="452025"/>
            <a:ext cx="11409409" cy="370456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smtClean="0">
                <a:solidFill>
                  <a:schemeClr val="tx1"/>
                </a:solidFill>
              </a:rPr>
              <a:t>Gerencia general / Comercial / Operativa / Financiera / Compras y abastecimiento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1314381" y="167803"/>
            <a:ext cx="5595913" cy="2049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Proceso principal / Camino critico / Proyecto GH-Gestión.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06/10/25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 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  <a:endParaRPr lang="es-AR" sz="12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2" descr="MULTIPLÁ MARCA_VERTICAL COLOR PARA FONDOS CLAR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7707" y="-233868"/>
            <a:ext cx="2057507" cy="89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redondeado 8"/>
          <p:cNvSpPr/>
          <p:nvPr/>
        </p:nvSpPr>
        <p:spPr>
          <a:xfrm>
            <a:off x="10778318" y="114094"/>
            <a:ext cx="1188395" cy="283471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smtClean="0">
                <a:solidFill>
                  <a:schemeClr val="tx1"/>
                </a:solidFill>
              </a:rPr>
              <a:t>Hoja 3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1736036" y="1318587"/>
            <a:ext cx="1457738" cy="11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Realizar el mantenimiento, culminarlo, cargar en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y cerrar la OT</a:t>
            </a:r>
          </a:p>
        </p:txBody>
      </p:sp>
      <p:cxnSp>
        <p:nvCxnSpPr>
          <p:cNvPr id="12" name="Conector angular 11"/>
          <p:cNvCxnSpPr>
            <a:stCxn id="4" idx="0"/>
            <a:endCxn id="10" idx="1"/>
          </p:cNvCxnSpPr>
          <p:nvPr/>
        </p:nvCxnSpPr>
        <p:spPr>
          <a:xfrm rot="5400000" flipH="1" flipV="1">
            <a:off x="1192694" y="2047460"/>
            <a:ext cx="705682" cy="3810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/>
          <p:cNvSpPr/>
          <p:nvPr/>
        </p:nvSpPr>
        <p:spPr>
          <a:xfrm>
            <a:off x="874644" y="1402278"/>
            <a:ext cx="8812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200" b="1" dirty="0">
                <a:solidFill>
                  <a:srgbClr val="1D4355"/>
                </a:solidFill>
              </a:rPr>
              <a:t>C</a:t>
            </a:r>
            <a:r>
              <a:rPr lang="es-AR" sz="1200" b="1" dirty="0" smtClean="0">
                <a:solidFill>
                  <a:srgbClr val="1D4355"/>
                </a:solidFill>
              </a:rPr>
              <a:t>on una sola  OT</a:t>
            </a:r>
            <a:endParaRPr lang="es-AR" sz="1200" dirty="0">
              <a:effectLst/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3505200" y="1311964"/>
            <a:ext cx="1901688" cy="1152939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notifica que la unidad esta en pendiente de validación de jefe de taller.</a:t>
            </a:r>
          </a:p>
        </p:txBody>
      </p:sp>
      <p:sp>
        <p:nvSpPr>
          <p:cNvPr id="16" name="Rombo 15"/>
          <p:cNvSpPr/>
          <p:nvPr/>
        </p:nvSpPr>
        <p:spPr>
          <a:xfrm>
            <a:off x="5698439" y="1086681"/>
            <a:ext cx="1961321" cy="157700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Jefe de taller revisa la eficacia y puede:</a:t>
            </a:r>
            <a:endParaRPr lang="es-AR" sz="11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Rectángulo redondeado 17"/>
          <p:cNvSpPr/>
          <p:nvPr/>
        </p:nvSpPr>
        <p:spPr>
          <a:xfrm>
            <a:off x="8050697" y="940902"/>
            <a:ext cx="1119807" cy="7951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Dar por “Conforme” y cerrar la o las OT</a:t>
            </a:r>
          </a:p>
        </p:txBody>
      </p:sp>
      <p:sp>
        <p:nvSpPr>
          <p:cNvPr id="19" name="Rectángulo redondeado 18"/>
          <p:cNvSpPr/>
          <p:nvPr/>
        </p:nvSpPr>
        <p:spPr>
          <a:xfrm>
            <a:off x="9647583" y="1663149"/>
            <a:ext cx="967410" cy="221973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notifica unidad disponible para retiro de base. Operaciones, sala, portería.</a:t>
            </a:r>
          </a:p>
        </p:txBody>
      </p:sp>
      <p:cxnSp>
        <p:nvCxnSpPr>
          <p:cNvPr id="24" name="Conector recto de flecha 23"/>
          <p:cNvCxnSpPr>
            <a:stCxn id="10" idx="3"/>
            <a:endCxn id="14" idx="1"/>
          </p:cNvCxnSpPr>
          <p:nvPr/>
        </p:nvCxnSpPr>
        <p:spPr>
          <a:xfrm>
            <a:off x="3193774" y="1885120"/>
            <a:ext cx="311426" cy="3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>
            <a:stCxn id="14" idx="3"/>
            <a:endCxn id="16" idx="1"/>
          </p:cNvCxnSpPr>
          <p:nvPr/>
        </p:nvCxnSpPr>
        <p:spPr>
          <a:xfrm flipV="1">
            <a:off x="5406888" y="1875185"/>
            <a:ext cx="291551" cy="13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angular 28"/>
          <p:cNvCxnSpPr>
            <a:stCxn id="16" idx="3"/>
            <a:endCxn id="18" idx="1"/>
          </p:cNvCxnSpPr>
          <p:nvPr/>
        </p:nvCxnSpPr>
        <p:spPr>
          <a:xfrm flipV="1">
            <a:off x="7659760" y="1338469"/>
            <a:ext cx="390937" cy="53671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r 30"/>
          <p:cNvCxnSpPr>
            <a:stCxn id="18" idx="3"/>
            <a:endCxn id="19" idx="1"/>
          </p:cNvCxnSpPr>
          <p:nvPr/>
        </p:nvCxnSpPr>
        <p:spPr>
          <a:xfrm>
            <a:off x="9170504" y="1338469"/>
            <a:ext cx="477079" cy="14345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/>
          <p:cNvSpPr/>
          <p:nvPr/>
        </p:nvSpPr>
        <p:spPr>
          <a:xfrm>
            <a:off x="7494105" y="1408906"/>
            <a:ext cx="483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SI</a:t>
            </a:r>
            <a:endParaRPr lang="es-AR" dirty="0">
              <a:effectLst/>
            </a:endParaRPr>
          </a:p>
        </p:txBody>
      </p:sp>
      <p:sp>
        <p:nvSpPr>
          <p:cNvPr id="45" name="Elipse 44"/>
          <p:cNvSpPr/>
          <p:nvPr/>
        </p:nvSpPr>
        <p:spPr>
          <a:xfrm>
            <a:off x="10946296" y="2411897"/>
            <a:ext cx="1192696" cy="715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000" dirty="0" smtClean="0"/>
              <a:t>Listo, unidad disponible en sistema</a:t>
            </a:r>
            <a:endParaRPr lang="es-AR" sz="1000" dirty="0"/>
          </a:p>
        </p:txBody>
      </p:sp>
      <p:cxnSp>
        <p:nvCxnSpPr>
          <p:cNvPr id="47" name="Conector recto de flecha 46"/>
          <p:cNvCxnSpPr>
            <a:stCxn id="19" idx="3"/>
            <a:endCxn id="45" idx="2"/>
          </p:cNvCxnSpPr>
          <p:nvPr/>
        </p:nvCxnSpPr>
        <p:spPr>
          <a:xfrm flipV="1">
            <a:off x="10614993" y="2769706"/>
            <a:ext cx="331303" cy="3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redondeado 47"/>
          <p:cNvSpPr/>
          <p:nvPr/>
        </p:nvSpPr>
        <p:spPr>
          <a:xfrm>
            <a:off x="7646507" y="2458275"/>
            <a:ext cx="1119807" cy="101379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dar por “Conforme” y retornar a la OT no conforme</a:t>
            </a:r>
          </a:p>
        </p:txBody>
      </p:sp>
      <p:cxnSp>
        <p:nvCxnSpPr>
          <p:cNvPr id="50" name="Conector angular 49"/>
          <p:cNvCxnSpPr>
            <a:stCxn id="16" idx="3"/>
            <a:endCxn id="48" idx="0"/>
          </p:cNvCxnSpPr>
          <p:nvPr/>
        </p:nvCxnSpPr>
        <p:spPr>
          <a:xfrm>
            <a:off x="7659760" y="1875185"/>
            <a:ext cx="546651" cy="5830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angular 53"/>
          <p:cNvCxnSpPr>
            <a:stCxn id="48" idx="1"/>
            <a:endCxn id="10" idx="2"/>
          </p:cNvCxnSpPr>
          <p:nvPr/>
        </p:nvCxnSpPr>
        <p:spPr>
          <a:xfrm rot="10800000">
            <a:off x="2464905" y="2451654"/>
            <a:ext cx="5181602" cy="51351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ángulo 54"/>
          <p:cNvSpPr/>
          <p:nvPr/>
        </p:nvSpPr>
        <p:spPr>
          <a:xfrm>
            <a:off x="8123583" y="2025134"/>
            <a:ext cx="5698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NO</a:t>
            </a:r>
            <a:endParaRPr lang="es-AR" dirty="0">
              <a:effectLst/>
            </a:endParaRPr>
          </a:p>
        </p:txBody>
      </p:sp>
      <p:cxnSp>
        <p:nvCxnSpPr>
          <p:cNvPr id="57" name="Conector recto de flecha 56"/>
          <p:cNvCxnSpPr/>
          <p:nvPr/>
        </p:nvCxnSpPr>
        <p:spPr>
          <a:xfrm>
            <a:off x="0" y="3657599"/>
            <a:ext cx="291551" cy="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redondeado 57"/>
          <p:cNvSpPr/>
          <p:nvPr/>
        </p:nvSpPr>
        <p:spPr>
          <a:xfrm>
            <a:off x="2855844" y="3684101"/>
            <a:ext cx="1457738" cy="11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Realizar el mantenimiento, culminarlo, cargar en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y cerrar la OT</a:t>
            </a:r>
          </a:p>
        </p:txBody>
      </p:sp>
      <p:cxnSp>
        <p:nvCxnSpPr>
          <p:cNvPr id="63" name="Conector angular 62"/>
          <p:cNvCxnSpPr>
            <a:stCxn id="4" idx="3"/>
            <a:endCxn id="58" idx="1"/>
          </p:cNvCxnSpPr>
          <p:nvPr/>
        </p:nvCxnSpPr>
        <p:spPr>
          <a:xfrm>
            <a:off x="2458277" y="3660914"/>
            <a:ext cx="397567" cy="5897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ángulo 63"/>
          <p:cNvSpPr/>
          <p:nvPr/>
        </p:nvSpPr>
        <p:spPr>
          <a:xfrm>
            <a:off x="1888437" y="4006331"/>
            <a:ext cx="8812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200" b="1" dirty="0">
                <a:solidFill>
                  <a:srgbClr val="1D4355"/>
                </a:solidFill>
              </a:rPr>
              <a:t>C</a:t>
            </a:r>
            <a:r>
              <a:rPr lang="es-AR" sz="1200" b="1" dirty="0" smtClean="0">
                <a:solidFill>
                  <a:srgbClr val="1D4355"/>
                </a:solidFill>
              </a:rPr>
              <a:t>on mas de una sola  OT</a:t>
            </a:r>
            <a:endParaRPr lang="es-AR" sz="1200" dirty="0">
              <a:effectLst/>
            </a:endParaRPr>
          </a:p>
        </p:txBody>
      </p:sp>
      <p:sp>
        <p:nvSpPr>
          <p:cNvPr id="65" name="Rectángulo redondeado 64"/>
          <p:cNvSpPr/>
          <p:nvPr/>
        </p:nvSpPr>
        <p:spPr>
          <a:xfrm>
            <a:off x="4797288" y="3584712"/>
            <a:ext cx="1126435" cy="134509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libera una OT y mantiene en pendientes otras OT a ejecutar.</a:t>
            </a:r>
          </a:p>
        </p:txBody>
      </p:sp>
      <p:sp>
        <p:nvSpPr>
          <p:cNvPr id="66" name="Rectángulo redondeado 65"/>
          <p:cNvSpPr/>
          <p:nvPr/>
        </p:nvSpPr>
        <p:spPr>
          <a:xfrm>
            <a:off x="6414054" y="3690727"/>
            <a:ext cx="1457738" cy="11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proceso es continuo hasta cerrar todas las OT y así dando paso al cierre.</a:t>
            </a:r>
          </a:p>
        </p:txBody>
      </p:sp>
      <p:cxnSp>
        <p:nvCxnSpPr>
          <p:cNvPr id="69" name="Conector angular 68"/>
          <p:cNvCxnSpPr>
            <a:stCxn id="66" idx="0"/>
            <a:endCxn id="16" idx="2"/>
          </p:cNvCxnSpPr>
          <p:nvPr/>
        </p:nvCxnSpPr>
        <p:spPr>
          <a:xfrm rot="16200000" flipV="1">
            <a:off x="6397493" y="2945296"/>
            <a:ext cx="1027039" cy="4638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/>
          <p:cNvCxnSpPr>
            <a:stCxn id="58" idx="3"/>
            <a:endCxn id="65" idx="1"/>
          </p:cNvCxnSpPr>
          <p:nvPr/>
        </p:nvCxnSpPr>
        <p:spPr>
          <a:xfrm>
            <a:off x="4313582" y="4250634"/>
            <a:ext cx="483706" cy="6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/>
          <p:cNvCxnSpPr>
            <a:stCxn id="65" idx="3"/>
            <a:endCxn id="66" idx="1"/>
          </p:cNvCxnSpPr>
          <p:nvPr/>
        </p:nvCxnSpPr>
        <p:spPr>
          <a:xfrm flipV="1">
            <a:off x="5923723" y="4257260"/>
            <a:ext cx="49033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redondeado 76"/>
          <p:cNvSpPr/>
          <p:nvPr/>
        </p:nvSpPr>
        <p:spPr>
          <a:xfrm>
            <a:off x="2120349" y="5387004"/>
            <a:ext cx="1457738" cy="11993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Realizar la revisión previa y detectar que no se encuentran repuestos disponibles.,</a:t>
            </a:r>
          </a:p>
        </p:txBody>
      </p:sp>
      <p:cxnSp>
        <p:nvCxnSpPr>
          <p:cNvPr id="79" name="Conector angular 78"/>
          <p:cNvCxnSpPr>
            <a:stCxn id="4" idx="2"/>
            <a:endCxn id="77" idx="1"/>
          </p:cNvCxnSpPr>
          <p:nvPr/>
        </p:nvCxnSpPr>
        <p:spPr>
          <a:xfrm rot="16200000" flipH="1">
            <a:off x="1109870" y="4976188"/>
            <a:ext cx="1255642" cy="7653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 79"/>
          <p:cNvSpPr/>
          <p:nvPr/>
        </p:nvSpPr>
        <p:spPr>
          <a:xfrm>
            <a:off x="1060174" y="5934523"/>
            <a:ext cx="12125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200" b="1" dirty="0" smtClean="0">
                <a:solidFill>
                  <a:srgbClr val="1D4355"/>
                </a:solidFill>
              </a:rPr>
              <a:t>Ausencia de repuestos</a:t>
            </a:r>
            <a:endParaRPr lang="es-AR" sz="1200" dirty="0">
              <a:effectLst/>
            </a:endParaRPr>
          </a:p>
        </p:txBody>
      </p:sp>
      <p:sp>
        <p:nvSpPr>
          <p:cNvPr id="85" name="Rombo 84"/>
          <p:cNvSpPr/>
          <p:nvPr/>
        </p:nvSpPr>
        <p:spPr>
          <a:xfrm>
            <a:off x="4008787" y="5267742"/>
            <a:ext cx="1961321" cy="142460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Jefe de taller debe analizar:</a:t>
            </a:r>
            <a:endParaRPr lang="es-AR" sz="11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6" name="Conector recto de flecha 95"/>
          <p:cNvCxnSpPr>
            <a:stCxn id="77" idx="3"/>
            <a:endCxn id="85" idx="1"/>
          </p:cNvCxnSpPr>
          <p:nvPr/>
        </p:nvCxnSpPr>
        <p:spPr>
          <a:xfrm flipV="1">
            <a:off x="3578087" y="5980045"/>
            <a:ext cx="430700" cy="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ángulo redondeado 99"/>
          <p:cNvSpPr/>
          <p:nvPr/>
        </p:nvSpPr>
        <p:spPr>
          <a:xfrm>
            <a:off x="6460437" y="4982819"/>
            <a:ext cx="2445024" cy="7951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equipo puede seguir operando hasta que llegue el repuesto, pasa el PM a la condición “En espera de repuesto”</a:t>
            </a:r>
          </a:p>
        </p:txBody>
      </p:sp>
      <p:cxnSp>
        <p:nvCxnSpPr>
          <p:cNvPr id="102" name="Conector angular 101"/>
          <p:cNvCxnSpPr>
            <a:stCxn id="85" idx="3"/>
            <a:endCxn id="100" idx="1"/>
          </p:cNvCxnSpPr>
          <p:nvPr/>
        </p:nvCxnSpPr>
        <p:spPr>
          <a:xfrm flipV="1">
            <a:off x="5970108" y="5380384"/>
            <a:ext cx="490329" cy="5996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ángulo 102"/>
          <p:cNvSpPr/>
          <p:nvPr/>
        </p:nvSpPr>
        <p:spPr>
          <a:xfrm flipH="1">
            <a:off x="5804452" y="5523707"/>
            <a:ext cx="4903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SI</a:t>
            </a:r>
            <a:endParaRPr lang="es-AR" dirty="0">
              <a:effectLst/>
            </a:endParaRPr>
          </a:p>
        </p:txBody>
      </p:sp>
      <p:cxnSp>
        <p:nvCxnSpPr>
          <p:cNvPr id="121" name="Conector angular 120"/>
          <p:cNvCxnSpPr>
            <a:stCxn id="100" idx="3"/>
            <a:endCxn id="19" idx="2"/>
          </p:cNvCxnSpPr>
          <p:nvPr/>
        </p:nvCxnSpPr>
        <p:spPr>
          <a:xfrm flipV="1">
            <a:off x="8905461" y="3882887"/>
            <a:ext cx="1225827" cy="14974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ángulo redondeado 127"/>
          <p:cNvSpPr/>
          <p:nvPr/>
        </p:nvSpPr>
        <p:spPr>
          <a:xfrm>
            <a:off x="6778488" y="5910471"/>
            <a:ext cx="2564294" cy="63610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unidad No debe seguir operando. Queda la OT abierta en condición de “Espera de repuestos”</a:t>
            </a:r>
          </a:p>
        </p:txBody>
      </p:sp>
      <p:cxnSp>
        <p:nvCxnSpPr>
          <p:cNvPr id="130" name="Conector angular 129"/>
          <p:cNvCxnSpPr>
            <a:stCxn id="85" idx="3"/>
            <a:endCxn id="128" idx="1"/>
          </p:cNvCxnSpPr>
          <p:nvPr/>
        </p:nvCxnSpPr>
        <p:spPr>
          <a:xfrm>
            <a:off x="5970108" y="5980045"/>
            <a:ext cx="808380" cy="2484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ángulo 131"/>
          <p:cNvSpPr/>
          <p:nvPr/>
        </p:nvSpPr>
        <p:spPr>
          <a:xfrm>
            <a:off x="5837583" y="6153186"/>
            <a:ext cx="5698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 smtClean="0">
                <a:solidFill>
                  <a:srgbClr val="1D4355"/>
                </a:solidFill>
              </a:rPr>
              <a:t>NO</a:t>
            </a:r>
            <a:endParaRPr lang="es-AR" dirty="0">
              <a:effectLst/>
            </a:endParaRPr>
          </a:p>
        </p:txBody>
      </p:sp>
      <p:sp>
        <p:nvSpPr>
          <p:cNvPr id="133" name="Rectángulo redondeado 132"/>
          <p:cNvSpPr/>
          <p:nvPr/>
        </p:nvSpPr>
        <p:spPr>
          <a:xfrm>
            <a:off x="10091531" y="5579164"/>
            <a:ext cx="1994452" cy="10933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notifica unidad No operativa. El estado cambiara cuando el Jefe de </a:t>
            </a:r>
            <a:r>
              <a:rPr lang="es-AR" sz="12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mant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s-AR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s-AR" sz="1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signe nuevamente un referente</a:t>
            </a:r>
          </a:p>
        </p:txBody>
      </p:sp>
      <p:cxnSp>
        <p:nvCxnSpPr>
          <p:cNvPr id="135" name="Conector angular 134"/>
          <p:cNvCxnSpPr>
            <a:stCxn id="128" idx="3"/>
            <a:endCxn id="133" idx="1"/>
          </p:cNvCxnSpPr>
          <p:nvPr/>
        </p:nvCxnSpPr>
        <p:spPr>
          <a:xfrm flipV="1">
            <a:off x="9342782" y="6125816"/>
            <a:ext cx="748749" cy="1027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angular 145"/>
          <p:cNvCxnSpPr>
            <a:endCxn id="4" idx="1"/>
          </p:cNvCxnSpPr>
          <p:nvPr/>
        </p:nvCxnSpPr>
        <p:spPr>
          <a:xfrm rot="10800000">
            <a:off x="251791" y="3660915"/>
            <a:ext cx="10836969" cy="3011555"/>
          </a:xfrm>
          <a:prstGeom prst="bentConnector3">
            <a:avLst>
              <a:gd name="adj1" fmla="val 10003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3414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684</Words>
  <Application>Microsoft Office PowerPoint</Application>
  <PresentationFormat>Panorámica</PresentationFormat>
  <Paragraphs>81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fernandez</dc:creator>
  <cp:lastModifiedBy>alejandro fernandez</cp:lastModifiedBy>
  <cp:revision>52</cp:revision>
  <dcterms:created xsi:type="dcterms:W3CDTF">2025-03-25T20:22:46Z</dcterms:created>
  <dcterms:modified xsi:type="dcterms:W3CDTF">2025-10-08T11:39:03Z</dcterms:modified>
</cp:coreProperties>
</file>